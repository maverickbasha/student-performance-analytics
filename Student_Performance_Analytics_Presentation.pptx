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Student Performance</a:t>
            </a:r>
          </a:p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DCAFF"/>
                </a:solidFill>
                <a:latin typeface="Aptos"/>
              </a:defRPr>
            </a:pPr>
            <a:r>
              <a:t>Activity Demo — Data Analytics &amp;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Interactive exploration • Model evaluation • Example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97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D2DCEE"/>
                </a:solidFill>
                <a:latin typeface="Aptos"/>
              </a:defRPr>
            </a:pPr>
            <a:r>
              <a:t>Prepared by: [Your Name]  |  GitHub: add after publishing  |  Streamlit: add after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240"/>
                </a:solidFill>
                <a:latin typeface="Aptos"/>
              </a:defRPr>
            </a:pPr>
            <a:r>
              <a:t>1.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F69BE"/>
                </a:solidFill>
                <a:latin typeface="Aptos"/>
              </a:defRPr>
            </a:pPr>
            <a:r>
              <a:t>What the application demonstrates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  <a:r>
              <a:t>• Explore a synthetic student-performance dataset.</a:t>
            </a:r>
          </a:p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  <a:r>
              <a:t>• Understand how attendance, study time, prior scores, assignments, and sleep relate to outcomes.</a:t>
            </a:r>
          </a:p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  <a:r>
              <a:t>• Train and evaluate a Random Forest classifier.</a:t>
            </a:r>
          </a:p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  <a:r>
              <a:t>• Read accuracy, a confusion matrix, and feature importance.</a:t>
            </a:r>
          </a:p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  <a:r>
              <a:t>• Test an example student's inputs and view class probabilities.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240"/>
                </a:solidFill>
                <a:latin typeface="Aptos"/>
              </a:defRPr>
            </a:pPr>
            <a:r>
              <a:t>2. Application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F69BE"/>
                </a:solidFill>
                <a:latin typeface="Aptos"/>
              </a:defRPr>
            </a:pPr>
            <a:r>
              <a:t>Simple view of the data-to-prediction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965960" cy="1828800"/>
          </a:xfrm>
          <a:prstGeom prst="roundRect">
            <a:avLst/>
          </a:prstGeom>
          <a:solidFill>
            <a:srgbClr val="2F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1 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Generate synthetic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286000"/>
            <a:ext cx="1965960" cy="1828800"/>
          </a:xfrm>
          <a:prstGeom prst="round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6060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2  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Filter and visualize 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286000"/>
            <a:ext cx="1965960" cy="1828800"/>
          </a:xfrm>
          <a:prstGeom prst="roundRect">
            <a:avLst/>
          </a:prstGeom>
          <a:solidFill>
            <a:srgbClr val="2F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6060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3  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Fit a Random Forest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286000"/>
            <a:ext cx="1965960" cy="1828800"/>
          </a:xfrm>
          <a:prstGeom prst="round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6060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4  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Check holdout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2286000"/>
            <a:ext cx="1965960" cy="1828800"/>
          </a:xfrm>
          <a:prstGeom prst="roundRect">
            <a:avLst/>
          </a:prstGeom>
          <a:solidFill>
            <a:srgbClr val="2F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26060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5  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Try example inputs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240"/>
                </a:solidFill>
                <a:latin typeface="Aptos"/>
              </a:defRPr>
            </a:pPr>
            <a:r>
              <a:t>3.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F69BE"/>
                </a:solidFill>
                <a:latin typeface="Aptos"/>
              </a:defRPr>
            </a:pPr>
            <a:r>
              <a:t>Synthetic demo data — 600 generated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Input features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Attendance (%)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Study hours per day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Previous score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Assignments completed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Sleep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39991"/>
                </a:solidFill>
                <a:latin typeface="Aptos"/>
              </a:defRPr>
            </a:pPr>
            <a:r>
              <a:t>Target outcome</a:t>
            </a:r>
          </a:p>
          <a:p>
            <a:pPr>
              <a:defRPr sz="2000" b="1">
                <a:solidFill>
                  <a:srgbClr val="239991"/>
                </a:solidFill>
                <a:latin typeface="Aptos"/>
              </a:defRPr>
            </a:pPr>
            <a:r>
              <a:t>• On Track: score ≥ 70</a:t>
            </a:r>
          </a:p>
          <a:p>
            <a:pPr>
              <a:defRPr sz="2000" b="1">
                <a:solidFill>
                  <a:srgbClr val="239991"/>
                </a:solidFill>
                <a:latin typeface="Aptos"/>
              </a:defRPr>
            </a:pPr>
            <a:r>
              <a:t>• Needs Support: score 50–69</a:t>
            </a:r>
          </a:p>
          <a:p>
            <a:pPr>
              <a:defRPr sz="2000" b="1">
                <a:solidFill>
                  <a:srgbClr val="239991"/>
                </a:solidFill>
                <a:latin typeface="Aptos"/>
              </a:defRPr>
            </a:pPr>
            <a:r>
              <a:t>• At Risk: score below 50</a:t>
            </a:r>
          </a:p>
          <a:p>
            <a:pPr>
              <a:defRPr sz="2000" b="1">
                <a:solidFill>
                  <a:srgbClr val="239991"/>
                </a:solidFill>
                <a:latin typeface="Aptos"/>
              </a:defRPr>
            </a:pPr>
          </a:p>
          <a:p>
            <a:pPr>
              <a:defRPr sz="2000" b="1">
                <a:solidFill>
                  <a:srgbClr val="239991"/>
                </a:solidFill>
                <a:latin typeface="Aptos"/>
              </a:defRPr>
            </a:pPr>
            <a:r>
              <a:t>These are demo labels generated from a synthetic score formula.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240"/>
                </a:solidFill>
                <a:latin typeface="Aptos"/>
              </a:defRPr>
            </a:pPr>
            <a:r>
              <a:t>4. 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F69BE"/>
                </a:solidFill>
                <a:latin typeface="Aptos"/>
              </a:defRPr>
            </a:pPr>
            <a:r>
              <a:t>What users can explore in the Streamlit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  <a:r>
              <a:t>• Sidebar filters for attendance and outcome groups</a:t>
            </a:r>
          </a:p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  <a:r>
              <a:t>• KPI cards: record count, average score, attendance, at-risk share</a:t>
            </a:r>
          </a:p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  <a:r>
              <a:t>• Outcome distribution and final-score histogram</a:t>
            </a:r>
          </a:p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  <a:r>
              <a:t>• Scatter plot for a selected feature vs final score</a:t>
            </a:r>
          </a:p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  <a:r>
              <a:t>• Correlation heatmap for numeric variables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240"/>
                </a:solidFill>
                <a:latin typeface="Aptos"/>
              </a:defRPr>
            </a:pPr>
            <a:r>
              <a:t>5. Machine Learning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F69BE"/>
                </a:solidFill>
                <a:latin typeface="Aptos"/>
              </a:defRPr>
            </a:pPr>
            <a:r>
              <a:t>Random Forest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Inputs: five generated student attributes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Split: 80% training and 20% holdout testing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Algorithm: RandomForestClassifier with 150 trees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Evaluation: holdout accuracy and confusion matrix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Interpretation: feature-importance chart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The model is trained inside the app for reproducibility.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240"/>
                </a:solidFill>
                <a:latin typeface="Aptos"/>
              </a:defRPr>
            </a:pPr>
            <a:r>
              <a:t>6. Prediction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F69BE"/>
                </a:solidFill>
                <a:latin typeface="Aptos"/>
              </a:defRPr>
            </a:pPr>
            <a:r>
              <a:t>Test a hypothetical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Users can change attendance, study hours, previous score, assignment completion, and sleep hours.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After clicking “Estimate outcome”, the app displays: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Predicted outcome group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Probability for each class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This is a learning demonstration, not a real-world student assessment tool.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240"/>
                </a:solidFill>
                <a:latin typeface="Aptos"/>
              </a:defRPr>
            </a:pPr>
            <a:r>
              <a:t>7. Results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F69BE"/>
                </a:solidFill>
                <a:latin typeface="Aptos"/>
              </a:defRPr>
            </a:pPr>
            <a:r>
              <a:t>How to report the results responsibly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Model metrics are calculated when the app runs; they are not hard-coded into this presentation.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Because the data is synthetic, the results only demonstrate the workflow.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Feature importance indicates model reliance, not causation.</a:t>
            </a:r>
          </a:p>
          <a:p>
            <a:pPr>
              <a:defRPr sz="2100" b="0">
                <a:solidFill>
                  <a:srgbClr val="283141"/>
                </a:solidFill>
                <a:latin typeface="Aptos"/>
              </a:defRPr>
            </a:pPr>
            <a:r>
              <a:t>• Real deployment would require consent, privacy safeguards, representative data, and careful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240"/>
                </a:solidFill>
                <a:latin typeface="Aptos"/>
              </a:defRPr>
            </a:pPr>
            <a:r>
              <a:t>8. Run &amp; Publish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F69BE"/>
                </a:solidFill>
                <a:latin typeface="Aptos"/>
              </a:defRPr>
            </a:pPr>
            <a:r>
              <a:t>Repository and deployment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83141"/>
                </a:solidFill>
                <a:latin typeface="Aptos"/>
              </a:defRPr>
            </a:pPr>
            <a:r>
              <a:t>Local run:</a:t>
            </a:r>
          </a:p>
          <a:p>
            <a:pPr>
              <a:defRPr sz="2000" b="0">
                <a:solidFill>
                  <a:srgbClr val="283141"/>
                </a:solidFill>
                <a:latin typeface="Aptos"/>
              </a:defRPr>
            </a:pPr>
            <a:r>
              <a:t>1. Install dependencies: pip install -r requirements.txt</a:t>
            </a:r>
          </a:p>
          <a:p>
            <a:pPr>
              <a:defRPr sz="2000" b="0">
                <a:solidFill>
                  <a:srgbClr val="283141"/>
                </a:solidFill>
                <a:latin typeface="Aptos"/>
              </a:defRPr>
            </a:pPr>
            <a:r>
              <a:t>2. Launch: streamlit run app.py</a:t>
            </a:r>
          </a:p>
          <a:p>
            <a:pPr>
              <a:defRPr sz="2000" b="0">
                <a:solidFill>
                  <a:srgbClr val="283141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83141"/>
                </a:solidFill>
                <a:latin typeface="Aptos"/>
              </a:defRPr>
            </a:pPr>
            <a:r>
              <a:t>Publishing:</a:t>
            </a:r>
          </a:p>
          <a:p>
            <a:pPr>
              <a:defRPr sz="2000" b="0">
                <a:solidFill>
                  <a:srgbClr val="283141"/>
                </a:solidFill>
                <a:latin typeface="Aptos"/>
              </a:defRPr>
            </a:pPr>
            <a:r>
              <a:t>1. Push app.py, requirements.txt, and README.md to a public GitHub repository.</a:t>
            </a:r>
          </a:p>
          <a:p>
            <a:pPr>
              <a:defRPr sz="2000" b="0">
                <a:solidFill>
                  <a:srgbClr val="283141"/>
                </a:solidFill>
                <a:latin typeface="Aptos"/>
              </a:defRPr>
            </a:pPr>
            <a:r>
              <a:t>2. Deploy the repository on Streamlit Community Cloud.</a:t>
            </a:r>
          </a:p>
          <a:p>
            <a:pPr>
              <a:defRPr sz="2000" b="0">
                <a:solidFill>
                  <a:srgbClr val="283141"/>
                </a:solidFill>
                <a:latin typeface="Aptos"/>
              </a:defRPr>
            </a:pPr>
            <a:r>
              <a:t>3. Replace the placeholders with the verified GitHub and live app URLs.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240"/>
                </a:solidFill>
                <a:latin typeface="Aptos"/>
              </a:defRPr>
            </a:pPr>
            <a: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F69BE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  <a:r>
              <a:t>• Data visualization helps reveal patterns in a dataset.</a:t>
            </a:r>
          </a:p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  <a:r>
              <a:t>• A classification model can map input features to outcome categories.</a:t>
            </a:r>
          </a:p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  <a:r>
              <a:t>• Holdout evaluation is essential when assessing a model.</a:t>
            </a:r>
          </a:p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  <a:r>
              <a:t>• Interactive dashboards make analytics easier to demonstrate and discuss.</a:t>
            </a:r>
          </a:p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</a:p>
          <a:p>
            <a:pPr>
              <a:defRPr sz="2200" b="0">
                <a:solidFill>
                  <a:srgbClr val="283141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